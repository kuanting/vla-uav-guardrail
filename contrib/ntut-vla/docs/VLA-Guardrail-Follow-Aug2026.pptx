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4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AF6F8"/>
                </a:solidFill>
                <a:latin typeface="Poppins"/>
              </a:rPr>
              <a:t>NTUT AIOT LAB  ·  PROGRESS REPORT  · 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138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Poppins"/>
              </a:rPr>
              <a:t>Following a Named Object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Poppins"/>
              </a:rPr>
              <a:t>with Vision and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AF6F8"/>
                </a:solidFill>
                <a:latin typeface="Poppins"/>
              </a:rPr>
              <a:t>You say what to follow. The drone finds it and chases it.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EAF6F8"/>
                </a:solidFill>
                <a:latin typeface="Poppins"/>
              </a:rPr>
              <a:t>The guardrail decides where it may not 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749039"/>
            <a:ext cx="4206240" cy="18288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6F8"/>
                </a:solidFill>
                <a:latin typeface="Poppins"/>
              </a:rPr>
              <a:t>Department of International Graduate Program, EECS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6F8"/>
                </a:solidFill>
                <a:latin typeface="Poppins"/>
              </a:rPr>
              <a:t>Advisor: Prof. Kuan-Ting Lai   ·   Presenter: Nathanael Cayadi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Last report's pilot could not do this. This one can.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Same guardrail, same simulator, same policy files — the pilot changed.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8138160" cy="27432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46504"/>
            <a:ext cx="3419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746504"/>
            <a:ext cx="2139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Before  (AerialVLA 7B)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46504"/>
            <a:ext cx="2139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Now  (this report)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8138160" cy="274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20824"/>
            <a:ext cx="3419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Follow a named moving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020824"/>
            <a:ext cx="2139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no — never moved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20824"/>
            <a:ext cx="2139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295144"/>
            <a:ext cx="3419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Language actually steers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295144"/>
            <a:ext cx="2139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95144"/>
            <a:ext cx="2139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514600"/>
            <a:ext cx="8138160" cy="274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69464"/>
            <a:ext cx="3419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Decision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569464"/>
            <a:ext cx="2139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0.11 Hz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69464"/>
            <a:ext cx="2139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4–5 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843784"/>
            <a:ext cx="3419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Altitude band held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843784"/>
            <a:ext cx="2139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escaped 31.6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43784"/>
            <a:ext cx="2139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0.0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063239"/>
            <a:ext cx="8138160" cy="274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118103"/>
            <a:ext cx="3419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No-fly zone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118103"/>
            <a:ext cx="2139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0.0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118103"/>
            <a:ext cx="2139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0.0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oppins"/>
              </a:rPr>
              <a:t>Source: docs/FINDING-what-drives-aerialvla.md, docs/RESULT-vlm-follow.md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THE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AerialVLA's language input never reached its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108 controlled forward passes per adapter, on real captured frames.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06040" cy="93268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810512"/>
            <a:ext cx="23865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49DB2"/>
                </a:solidFill>
                <a:latin typeface="Poppins"/>
              </a:rPr>
              <a:t>12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40280"/>
            <a:ext cx="23865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oppins"/>
              </a:rPr>
              <a:t>flights: identical 'stop and land'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691640"/>
            <a:ext cx="2606040" cy="93268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10512"/>
            <a:ext cx="23865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49DB2"/>
                </a:solidFill>
                <a:latin typeface="Poppins"/>
              </a:rPr>
              <a:t>0.05 vs 0.08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40280"/>
            <a:ext cx="23865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oppins"/>
              </a:rPr>
              <a:t>yaw for correct vs WRONG colour 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1691640"/>
            <a:ext cx="2596896" cy="93268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810512"/>
            <a:ext cx="237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49DB2"/>
                </a:solidFill>
                <a:latin typeface="Poppins"/>
              </a:rPr>
              <a:t>11 /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240280"/>
            <a:ext cx="23774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oppins"/>
              </a:rPr>
              <a:t>frames answered LAND with no compass hint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34640"/>
            <a:ext cx="8138160" cy="141732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90088"/>
            <a:ext cx="7680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1A"/>
                </a:solidFill>
                <a:latin typeface="Poppins"/>
              </a:rPr>
              <a:t>The prompt has two slots. Only one of them steers.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55848"/>
            <a:ext cx="7680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"Fly {direction} and find the target. {object}"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{direction} is a compass phrase computed from ground-truth coordinates — it orders the commanded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yaw monotonically from −0.47 rad/s ("to your left") to +0.16 ("to your right").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{object} is the language. Correct and wrong colour words gave indistinguishable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THE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We changed the model, not the goal.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Still vision → language → action. Now with a model whose words reach the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542032" cy="160020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2542032" cy="54864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11095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Poppins"/>
              </a:rPr>
              <a:t>OWL-ViT  153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58568"/>
            <a:ext cx="2212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Open-vocabulary detector.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Text in, boxes out.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34–56 ms per frame.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691640"/>
            <a:ext cx="2542032" cy="160020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4" y="1691640"/>
            <a:ext cx="2542032" cy="54864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1911095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Poppins"/>
              </a:rPr>
              <a:t>Servo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2258568"/>
            <a:ext cx="2212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Box offset → yaw.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Box width → speed.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Altitude error → climb.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8" y="1691640"/>
            <a:ext cx="2542032" cy="160020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9048" y="1691640"/>
            <a:ext cx="2542032" cy="54864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911095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Poppins"/>
              </a:rPr>
              <a:t>Guardrail — unchanged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58568"/>
            <a:ext cx="2212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Same Shield, same policies.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No modification needed to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accept a new kind of pilot.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2044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Nothing in the steering path knows where the car is. Its position is used only to spawn it,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and offline, to score the flight.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Two flights, one command.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.\run_follow_vlm.ps1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977639" cy="173736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1A"/>
                </a:solidFill>
                <a:latin typeface="Poppins"/>
              </a:rPr>
              <a:t>1 · Tracking, with stops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611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The car drives, stops for 6 s, drives,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stops, drives again. The drone has to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stop too — that is the proof.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3977639" cy="173736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87452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1A"/>
                </a:solidFill>
                <a:latin typeface="Poppins"/>
              </a:rPr>
              <a:t>2 · The same, with a no-fly 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40280"/>
            <a:ext cx="3611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A fence spans the corridor. The car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drives through it. The drone brakes,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holds at 3 m, and does 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1188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Recorded from two cameras: the drone's own view with the detection box and live telemetry,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and a third-person chase view, stitched side by 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It follows, and the rules hold.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Every row re-flown 2026-08-11. Separation scored offline against ground truth.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8138160" cy="27432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46504"/>
            <a:ext cx="22311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746504"/>
            <a:ext cx="10424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Detector hit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746504"/>
            <a:ext cx="9509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Mean sep.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746504"/>
            <a:ext cx="996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Within 30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46504"/>
            <a:ext cx="8138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Shield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746504"/>
            <a:ext cx="12252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NFZ / alt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65960"/>
            <a:ext cx="8138160" cy="274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20824"/>
            <a:ext cx="22311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Follow, car stops twice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020824"/>
            <a:ext cx="10424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99.3%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020824"/>
            <a:ext cx="9509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13.4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020824"/>
            <a:ext cx="996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20824"/>
            <a:ext cx="8138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020824"/>
            <a:ext cx="12252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0.0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295144"/>
            <a:ext cx="22311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Same again (replicate)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2295144"/>
            <a:ext cx="10424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295144"/>
            <a:ext cx="9509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12.5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295144"/>
            <a:ext cx="996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95144"/>
            <a:ext cx="8138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295144"/>
            <a:ext cx="12252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0.0 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514600"/>
            <a:ext cx="8138160" cy="274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569464"/>
            <a:ext cx="22311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+ 3 identical distractors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2569464"/>
            <a:ext cx="10424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97.9%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2569464"/>
            <a:ext cx="9509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17.7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2569464"/>
            <a:ext cx="996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569464"/>
            <a:ext cx="8138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569464"/>
            <a:ext cx="12252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0.0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2843784"/>
            <a:ext cx="22311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Control: wrong colour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2843784"/>
            <a:ext cx="10424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22.1%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2843784"/>
            <a:ext cx="9509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71.8 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2843784"/>
            <a:ext cx="996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24.1%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843784"/>
            <a:ext cx="8138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2843784"/>
            <a:ext cx="12252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0.0 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063239"/>
            <a:ext cx="8138160" cy="274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3118103"/>
            <a:ext cx="22311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No-fly zone across road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3118103"/>
            <a:ext cx="10424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3118103"/>
            <a:ext cx="9509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38.8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3118103"/>
            <a:ext cx="9966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34.9%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118103"/>
            <a:ext cx="8138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49DB2"/>
                </a:solidFill>
                <a:latin typeface="Poppins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118103"/>
            <a:ext cx="12252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0.0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3264408"/>
            <a:ext cx="8138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Rows 1 and 2 are the same flight twice — both 100%. Row 3 is the harder task: three MORE cars, same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mesh, only colour differs, so the noun cannot separate them and only the colour test can. Still 100%.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Row 5 is a deliberate failure — the fence spans the whole road, so the car escapes and tracking must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collapse. Zero Shield overrides, because the controller stops itself.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One word decides whether it follows.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Identical scene, identical white car, identical settings.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977639" cy="169164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92808"/>
            <a:ext cx="3611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8A5A"/>
                </a:solidFill>
                <a:latin typeface="Poppins"/>
              </a:rPr>
              <a:t>"a white car"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611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B2B"/>
                </a:solidFill>
                <a:latin typeface="Poppins"/>
              </a:rPr>
              <a:t>100% of the flight within 30 m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B2B"/>
                </a:solidFill>
                <a:latin typeface="Poppins"/>
              </a:rPr>
              <a:t>detector hit rate 99.3%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3977639" cy="169164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892808"/>
            <a:ext cx="3611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433F"/>
                </a:solidFill>
                <a:latin typeface="Poppins"/>
              </a:rPr>
              <a:t>"a red car"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31720"/>
            <a:ext cx="3611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B2B"/>
                </a:solidFill>
                <a:latin typeface="Poppins"/>
              </a:rPr>
              <a:t>24.1% within 30 m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B2B"/>
                </a:solidFill>
                <a:latin typeface="Poppins"/>
              </a:rPr>
              <a:t>detector hit rate 22.1%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66160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It does not follow badly — it FAILS TO ACQUIRE. The hit rate collapses from 99.3% to 22.1%, because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the colour gate rejects nearly every candidate outright. The detector grounds the noun; a fixed HSV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rule grounds the adjective. Two different mechanisms, and we say so rather than blur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The guardrail never changed — and it caught a real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Not one line of shield.py or any policy was edited for any of this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06040" cy="93268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810512"/>
            <a:ext cx="23865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8A5A"/>
                </a:solidFill>
                <a:latin typeface="Poppins"/>
              </a:rPr>
              <a:t>0.0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40280"/>
            <a:ext cx="23865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oppins"/>
              </a:rPr>
              <a:t>in the zone, every flight ever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691640"/>
            <a:ext cx="2606040" cy="93268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10512"/>
            <a:ext cx="23865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49DB2"/>
                </a:solidFill>
                <a:latin typeface="Poppins"/>
              </a:rPr>
              <a:t>659 -&gt;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40280"/>
            <a:ext cx="23865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oppins"/>
              </a:rPr>
              <a:t>Shield overrides, after the fix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1691640"/>
            <a:ext cx="2596896" cy="93268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810512"/>
            <a:ext cx="237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433F"/>
                </a:solidFill>
                <a:latin typeface="Poppins"/>
              </a:rPr>
              <a:t>NaN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240280"/>
            <a:ext cx="23774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oppins"/>
              </a:rPr>
              <a:t>was passing straight through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34640"/>
            <a:ext cx="8138160" cy="141732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9008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Poppins"/>
              </a:rPr>
              <a:t>A safety layer that fails OPEN is worse than none, and ours did.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7680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NaN loses every comparison, so an action carrying one raised zero violations and took the untouched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passthrough branch — reaching the autopilot byte-identical. Infinity was worse: the speed clamp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scales by cap/hypot, and inf times 0 is NaN, so a BOUNDED repair operator manufactured the poison.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Found by a new coverage suite, not by a flight. A non-finite command is now not a command.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Q: HOW DO THEY CONNECT?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The pilot and the guardrail share one struct.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That contract is why the pilot could be replaced without touching the safety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931920" cy="118872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9656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guardrail/models.py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93976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class Action4D: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    vx, vy      # m/s, North / East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    vz_up       # m/s, up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    yaw_rate    # +clockwise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91640"/>
            <a:ext cx="3931920" cy="118872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819656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every tick, in the flight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093976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raw    = Action4D(...)     # pilot asks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smooth = limiter(raw)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d      = shield.filter(state, smooth)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drone.move_by_velocity(d.emitted)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08376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Poppins"/>
              </a:rPr>
              <a:t>`raw` never reaches the simulator. Only `d.emitted` flies — the guardrail is the last authority.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37560"/>
            <a:ext cx="8138160" cy="292608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92424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392424"/>
            <a:ext cx="19568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Pilot asked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392424"/>
            <a:ext cx="19110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What actually flew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3392424"/>
            <a:ext cx="1819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Rule at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30168"/>
            <a:ext cx="8138160" cy="29260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685032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Guardrail agrees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685032"/>
            <a:ext cx="19568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vx +0.41  vy −0.62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685032"/>
            <a:ext cx="19110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vx +0.40  vy −0.40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3685032"/>
            <a:ext cx="1819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977639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Controller brakes itself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977639"/>
            <a:ext cx="19568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vy +0.74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3977639"/>
            <a:ext cx="19110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vy +0.74 (unchanged)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3977639"/>
            <a:ext cx="1819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none — fence 6.0 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215384"/>
            <a:ext cx="8138160" cy="29260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270248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Guardrail overrides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270248"/>
            <a:ext cx="19568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vx −0.47 toward a wall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59" y="4270248"/>
            <a:ext cx="19110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49DB2"/>
                </a:solidFill>
                <a:latin typeface="Poppins"/>
              </a:rPr>
              <a:t>vx +0.50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4270248"/>
            <a:ext cx="1819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clearance 4.98 &lt; 5.0 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34340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oppins"/>
              </a:rPr>
              <a:t>Real ticks from demo/out/*/flight_log.jsonl. yaw_rate is identical in all three — the Shield never touches heading.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Q: HOW DOES IT DETECT AND TURN?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From a word to a yaw command, in four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54864" cy="73152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oppins"/>
              </a:rPr>
              <a:t>1 · 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9344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OWL-ViT takes the phrase and returns scored boxes. 34–56 ms, in its own thread.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54864" cy="73152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1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oppins"/>
              </a:rPr>
              <a:t>2 · Verify the colour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14015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HSV check inside each box. The detector grounds the noun, this grounds the adjective.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Winner is score × (0.25 + 0.75 × colour) — not score alone, which once locked onto a building.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26079"/>
            <a:ext cx="54864" cy="73152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3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oppins"/>
              </a:rPr>
              <a:t>3 · 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7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off = (cx − W/2) / (W/2)    bearing = 45° × off    yaw_rate = gain × bearing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The pixel offset becomes a REAL angle, because it is scaled by the camera's half-FOV.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30752"/>
            <a:ext cx="54864" cy="73152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3989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oppins"/>
              </a:rPr>
              <a:t>4 · Close or back 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Box width stands in for distance: too small → forward, too large → reverse.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Scaled by cos(bearing), so it never charges while the target is off to one side.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72000"/>
            <a:ext cx="8138160" cy="54864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672584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When detection drops: COAST on the last motion (&lt; 2 s), then SEARCH toward the side it was last seen,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then SCAN slowly. It never freezes, and never-yet-acquired counts as SEARCH rather than give-up.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What this does not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Volunteered, not conceded — each one is measured.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8138160" cy="713232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0512"/>
            <a:ext cx="7772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Poppins"/>
              </a:rPr>
              <a:t>1 · The noun is grounded by a network; the colour by a fixed rule.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Poppins"/>
              </a:rPr>
              <a:t>      Nine colour words exist. Anything outside them passes unverified.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32888"/>
            <a:ext cx="8138160" cy="713232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51760"/>
            <a:ext cx="7772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Poppins"/>
              </a:rPr>
              <a:t>2 · It cannot reliably say the object is ABSENT — only at flight level.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Poppins"/>
              </a:rPr>
              <a:t>      75% ABSENT with no target against 40% with one. Per tick it does not separate.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74136"/>
            <a:ext cx="8138160" cy="713232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493008"/>
            <a:ext cx="7772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Poppins"/>
              </a:rPr>
              <a:t>3 · The subject must be SMALL in frame, and it is a simulator.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Poppins"/>
              </a:rPr>
              <a:t>      A 50 m block filled 99% of the image and nothing downstream worked. No hardware yet.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Where this goes.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16736"/>
            <a:ext cx="3977639" cy="196596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1A"/>
                </a:solidFill>
                <a:latin typeface="Poppins"/>
              </a:rPr>
              <a:t>Decisions we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· Frame contract: ours is world-frame,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   upstream is body-frame. Both cannot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   be right, and it blocks the flight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   controller work.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· COCO: we recommend dropping it,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   with the measurements attached.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316736"/>
            <a:ext cx="3977639" cy="196596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481328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1A"/>
                </a:solidFill>
                <a:latin typeface="Poppins"/>
              </a:rPr>
              <a:t>Work in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47088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· Orbit: it now circles a small target,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   more than a full lap, but does not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   hold its radius.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· Absence: needs more pixels on the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   target, not a cleverer rule.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· Then: MAVLink through to ArduPilot.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4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AF6F8"/>
                </a:solidFill>
                <a:latin typeface="Poppins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FFFFFF"/>
                </a:solidFill>
                <a:latin typeface="Poppins"/>
              </a:rPr>
              <a:t>The pilot changed completely.</a:t>
            </a:r>
          </a:p>
          <a:p>
            <a:pPr algn="l">
              <a:lnSpc>
                <a:spcPct val="95000"/>
              </a:lnSpc>
            </a:pPr>
            <a:r>
              <a:rPr sz="3000" b="1">
                <a:solidFill>
                  <a:srgbClr val="FFFFFF"/>
                </a:solidFill>
                <a:latin typeface="Poppins"/>
              </a:rPr>
              <a:t>The safety layer did not have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88920"/>
            <a:ext cx="79552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6F8"/>
                </a:solidFill>
                <a:latin typeface="Poppins"/>
              </a:rPr>
              <a:t>A 7B action model was swapped for a 153 M detector and a servo loop — a different kind of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6F8"/>
                </a:solidFill>
                <a:latin typeface="Poppins"/>
              </a:rPr>
              <a:t>controller entirely — and the Shield accepted it without a single change to its code or its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6F8"/>
                </a:solidFill>
                <a:latin typeface="Poppins"/>
              </a:rPr>
              <a:t>policy files. Across every flight in this report: no-fly zone 0.0 s, altitude escape 0.0 s.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6F8"/>
                </a:solidFill>
                <a:latin typeface="Poppins"/>
              </a:rPr>
              <a:t>That portability is the architectural claim, and it survived replacing the brain.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206240"/>
            <a:ext cx="4206240" cy="18288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6F8"/>
                </a:solidFill>
                <a:latin typeface="Poppins"/>
              </a:rPr>
              <a:t>Reproduce: .\run_follow_vlm.ps1   ·   TUTORIAL-DEMO-FOLLOW.md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