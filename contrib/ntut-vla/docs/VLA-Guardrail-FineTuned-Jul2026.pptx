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74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F6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NTUT AIOT LAB · PROGRESS REPORT · JULY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138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Fine-Tuned Vision-Language-Action Pilot,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Kept Safe by the Guardrail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6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pluggable slot to a trained 7B model flying real urban maps — with every action still validated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749040"/>
            <a:ext cx="4206240" cy="0"/>
          </a:xfrm>
          <a:prstGeom prst="line">
            <a:avLst/>
          </a:prstGeom>
          <a:noFill/>
          <a:ln w="12700">
            <a:solidFill>
              <a:srgbClr val="249D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886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AF6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Department of International Graduate Program, EECS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AF6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Advisor: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AF6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Presenter: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49D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pipeline today — two new layers since last report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22960" cy="0"/>
          </a:xfrm>
          <a:prstGeom prst="line">
            <a:avLst/>
          </a:prstGeom>
          <a:noFill/>
          <a:ln w="31750">
            <a:solidFill>
              <a:srgbClr val="249D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9601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960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Command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435608" y="2130552"/>
            <a:ext cx="146304" cy="0"/>
          </a:xfrm>
          <a:prstGeom prst="line">
            <a:avLst/>
          </a:prstGeom>
          <a:noFill/>
          <a:ln w="2032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600200" y="1828800"/>
            <a:ext cx="1051560" cy="603504"/>
          </a:xfrm>
          <a:prstGeom prst="roundRect">
            <a:avLst>
              <a:gd name="adj" fmla="val 9091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1828800"/>
            <a:ext cx="1051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Constraint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Compiler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70048" y="2130552"/>
            <a:ext cx="146304" cy="0"/>
          </a:xfrm>
          <a:prstGeom prst="line">
            <a:avLst/>
          </a:prstGeom>
          <a:noFill/>
          <a:ln w="2032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34640" y="1828800"/>
            <a:ext cx="1188720" cy="603504"/>
          </a:xfrm>
          <a:prstGeom prst="roundRect">
            <a:avLst>
              <a:gd name="adj" fmla="val 9091"/>
            </a:avLst>
          </a:prstGeom>
          <a:solidFill>
            <a:srgbClr val="D6EDF1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828800"/>
            <a:ext cx="1188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Fine-tuned VLA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(7B, ours)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41648" y="2130552"/>
            <a:ext cx="146304" cy="0"/>
          </a:xfrm>
          <a:prstGeom prst="line">
            <a:avLst/>
          </a:prstGeom>
          <a:noFill/>
          <a:ln w="2032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06240" y="1828800"/>
            <a:ext cx="1188720" cy="603504"/>
          </a:xfrm>
          <a:prstGeom prst="roundRect">
            <a:avLst>
              <a:gd name="adj" fmla="val 9091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828800"/>
            <a:ext cx="1188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Depth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Avoidance  NEW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13248" y="2130552"/>
            <a:ext cx="146304" cy="0"/>
          </a:xfrm>
          <a:prstGeom prst="line">
            <a:avLst/>
          </a:prstGeom>
          <a:noFill/>
          <a:ln w="2032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77840" y="1828800"/>
            <a:ext cx="1005840" cy="603504"/>
          </a:xfrm>
          <a:prstGeom prst="roundRect">
            <a:avLst>
              <a:gd name="adj" fmla="val 9091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828800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01968" y="2130552"/>
            <a:ext cx="146304" cy="0"/>
          </a:xfrm>
          <a:prstGeom prst="line">
            <a:avLst/>
          </a:prstGeom>
          <a:noFill/>
          <a:ln w="2032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766560" y="1828800"/>
            <a:ext cx="1051560" cy="603504"/>
          </a:xfrm>
          <a:prstGeom prst="roundRect">
            <a:avLst>
              <a:gd name="adj" fmla="val 9091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828800"/>
            <a:ext cx="1051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Safety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Shield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36408" y="2130552"/>
            <a:ext cx="146304" cy="0"/>
          </a:xfrm>
          <a:prstGeom prst="line">
            <a:avLst/>
          </a:prstGeom>
          <a:noFill/>
          <a:ln w="2032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001000" y="1828800"/>
            <a:ext cx="777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1828800"/>
            <a:ext cx="777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 /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MAVLink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26974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teal = guardrail-side (deterministic, auditable) · tinted = swappable learned model · Shield remains the FINAL authority on every action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2004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310896" cy="31089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88136" y="33649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1 (new): the pilot is now OURS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04088" y="3822192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AerialVLA fine-tuned with QLoRA on 5,500+ self-collected flight samples — sees front + down cameras, reads the mission text, emits (forward, down, yaw-rate) at ~0.8 Hz.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892040" y="32004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383280"/>
            <a:ext cx="310896" cy="31089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477256" y="33649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2 (new): perception safety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5093208" y="3822192"/>
            <a:ext cx="334670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depth-camera avoidance layer brakes, side-steps and climbs around buildings BEFORE the Shield — cutting how often hard rules must fire.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8503920" y="473659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503920" y="47365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49D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upgrades since the last report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22960" cy="0"/>
          </a:xfrm>
          <a:prstGeom prst="line">
            <a:avLst/>
          </a:prstGeom>
          <a:noFill/>
          <a:ln w="31750">
            <a:solidFill>
              <a:srgbClr val="249D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" y="17647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7B VLA in the slot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4088" y="2221992"/>
            <a:ext cx="371246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OpenVLA-7B (base) then AerialVLA (UAV LoRA) integrated: 4-bit NF4, 4.7–5.6 GB VRAM on RTX 4080, inference 0.9–1.3 s/action.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92040" y="1600200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8308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7256" y="17647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Fine-tuning campaign (3 runs)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093208" y="2221992"/>
            <a:ext cx="371246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QLoRA on our own expert-flight data. Deployed config: efficiency 0.942 → 0.996, shield workload −60% (108 → 43.6 interventions).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2920" y="3310128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9300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88136" y="34747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 UE5 worlds unlocked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704088" y="3931920"/>
            <a:ext cx="371246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AirSim rail (5th sim) + PASBlocks maps: JapaneseCity day/night, Airport, Military Airbase. Best flight: 0 interventions, NFZ 0.0 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892040" y="3310128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49300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77256" y="34747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Mission Control GUI + avoidance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093208" y="3931920"/>
            <a:ext cx="371246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Click waypoints, draw NFZs (become live policy), watch the drone move on the map. Depth layer slaloms building canyons.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503920" y="473659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503920" y="47365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49D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PILOT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&amp; inference — the numbers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22960" cy="0"/>
          </a:xfrm>
          <a:prstGeom prst="line">
            <a:avLst/>
          </a:prstGeom>
          <a:noFill/>
          <a:ln w="31750">
            <a:solidFill>
              <a:srgbClr val="249DB2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4937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Property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D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Value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DB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Base model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openvla-7b (7B params)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UAV adapter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AerialVLA LoRA r=64 + our QLoRA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Quantization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4-bit NF4 (bitsandbytes)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VRAM in flight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9DB2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5.6 GB (of 16 GB, sim shares GPU)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Model load time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18–25 s (warm disk cache)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Inference latency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9DB2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0.9–1.3 s / action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Effective VLA rate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~0.8 Hz (action held between)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Control loop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10 Hz, never blocks (worker thread)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554480"/>
            <a:ext cx="30175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737360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54496" y="17190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threading matters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870448" y="2176272"/>
            <a:ext cx="2615184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7B model cannot run at 10 Hz. Inference lives in a background thread with its own sim connection; the control loop always uses the latest action.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Blocking the loop was the root cause of the freeze-then-jerk flight seen earlier — fixed, and the same design is what a Jetson deployment needs.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503920" y="473659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503920" y="47365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49D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FINE-TUNING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Method: our own data engine + QLoRA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22960" cy="0"/>
          </a:xfrm>
          <a:prstGeom prst="line">
            <a:avLst/>
          </a:prstGeom>
          <a:noFill/>
          <a:ln w="31750">
            <a:solidFill>
              <a:srgbClr val="249D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" y="17190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engine (self-collected)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4088" y="2176272"/>
            <a:ext cx="3621024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Expert planner flies randomized missions in AirSimNH while we record camera mosaics + prompts + quantized action labels.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3 datasets, 5,500+ samples total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v2: mid-episode retargeting → 48% turning samples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v3: expert re-decides every 12 ticks = matches the VLA's real decision latency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Labels: 99-bin text tokens (fwd 0–5 m/s, down ±5, yaw ±1.1 rad/s)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5544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3736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94376" y="17190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 recipe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910328" y="2176272"/>
            <a:ext cx="3575304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QLoRA on RTX 4080 SUPER: LoRA r=64 on LLM projections + full projector, lr 2e-5, 2 epochs ≈ 53 min/run, batch 1 × grad-accum 8, bf16 compute.</a:t>
            </a:r>
            <a:endParaRPr lang="en-US" sz="1050" dirty="0"/>
          </a:p>
        </p:txBody>
      </p:sp>
      <p:pic>
        <p:nvPicPr>
          <p:cNvPr id="13" name="Image 2" descr="D:/OneDrive/College/S2-TaipeiTech/Lab/VLA Drone/docs/img/ft_loss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108960"/>
            <a:ext cx="3977640" cy="15544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503920" y="473659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503920" y="47365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49D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FINE-TUNING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runs, two hard lessons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22960" cy="0"/>
          </a:xfrm>
          <a:prstGeom prst="line">
            <a:avLst/>
          </a:prstGeom>
          <a:noFill/>
          <a:ln w="31750">
            <a:solidFill>
              <a:srgbClr val="249DB2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81838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377440"/>
                <a:gridCol w="283464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Run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D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D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Closed-loop outcome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D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Lesson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DB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run1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1,567 samples, ~90% fly-straight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REGRESSION — model unlearned turning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label DISTRIBUTION beats loss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49DB2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run2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1,961 samples, 48% turning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49DB2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deploy: eff 0.996, interv 43.6 — production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balance the behaviors you need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run3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latency-matched expert (12-tick)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calmer, but did not beat run2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match train/deploy dynamics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29184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run was judged by CLOSED-LOOP flight (5 episodes, random targets, same seeds) — never by training loss alone. Loss fell 1.82 → 0.24 in run1 too, and run1 was our worst model: offline metrics lie, flights don't.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402336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Honest limit: PURE VLA (no mission-direction assist) reaches the target only ~20% of the time — at 0.8 Hz each decision lasts ~63° of heading change. Deployed system uses 55% mission-direction assist (a standard global-planner + local-policy split).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503920" y="473659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0" y="47365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49D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vs after fine-tuning (deployed config)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22960" cy="0"/>
          </a:xfrm>
          <a:prstGeom prst="line">
            <a:avLst/>
          </a:prstGeom>
          <a:noFill/>
          <a:ln w="31750">
            <a:solidFill>
              <a:srgbClr val="249DB2"/>
            </a:solidFill>
            <a:prstDash val="solid"/>
          </a:ln>
        </p:spPr>
      </p:sp>
      <p:pic>
        <p:nvPicPr>
          <p:cNvPr id="5" name="Image 0" descr="D:/OneDrive/College/S2-TaipeiTech/Lab/VLA Drone/docs/img/f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81381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episodes, random targets, identical seeds · deployed config = mission assist 0.55 + yaw damp 0.4 · NFZ time 0.0 s in every run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503920" y="473659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0" y="47365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49D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Shield interventions per flight — constraints pushed upstream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22960" cy="0"/>
          </a:xfrm>
          <a:prstGeom prst="line">
            <a:avLst/>
          </a:prstGeom>
          <a:noFill/>
          <a:ln w="31750">
            <a:solidFill>
              <a:srgbClr val="249D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64592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368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89720" y="1645920"/>
            <a:ext cx="-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baseline VLA, pure (no assist, no tuning)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71600" y="2212848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128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212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hand-written stub pilot + shield (old demo)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71600" y="2779776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7977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94760" y="277977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original AerialVLA, deployed config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371600" y="3346704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467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43.6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23160" y="334670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fine-tuned model, deployed config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371600" y="3913632"/>
            <a:ext cx="109728" cy="457200"/>
          </a:xfrm>
          <a:prstGeom prst="roundRect">
            <a:avLst>
              <a:gd name="adj" fmla="val 41667"/>
            </a:avLst>
          </a:prstGeom>
          <a:solidFill>
            <a:srgbClr val="1A7484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136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18488" y="3913632"/>
            <a:ext cx="7296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fine-tuned model, JapaneseCity urban flight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guardrail every row. The safety layer's WORKLOAD falls as the pilot improves — the KPI (zero NFZ violations) never moves.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03920" y="473659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47365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49D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 WORLDS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JapaneseCity (UE5) — best flight of the project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22960" cy="0"/>
          </a:xfrm>
          <a:prstGeom prst="line">
            <a:avLst/>
          </a:prstGeom>
          <a:noFill/>
          <a:ln w="31750">
            <a:solidFill>
              <a:srgbClr val="249DB2"/>
            </a:solidFill>
            <a:prstDash val="solid"/>
          </a:ln>
        </p:spPr>
      </p:sp>
      <p:pic>
        <p:nvPicPr>
          <p:cNvPr id="5" name="Image 0" descr="D:/OneDrive/College/S2-TaipeiTech/Lab/VLA Drone/demo/out/ft_japanesecity2/traj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76072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554480"/>
            <a:ext cx="2331720" cy="29260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86016" y="17190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Flight facts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601968" y="2176272"/>
            <a:ext cx="1929384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229 ticks (~23 s) to target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0 shield interventions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NFZ 0.0 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altitude flat at ~20 m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spawn moved to an open street — (0,0) sits under a roof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Maps available: city day / night, airport, military airbase (from the PASBlocks repo).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503920" y="473659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503920" y="47365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49D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PERCEPTION SAFETY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Depth-camera obstacle avoidance — how it works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22960" cy="0"/>
          </a:xfrm>
          <a:prstGeom prst="line">
            <a:avLst/>
          </a:prstGeom>
          <a:noFill/>
          <a:ln w="31750">
            <a:solidFill>
              <a:srgbClr val="249DB2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44805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Parameter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D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Value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DB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Sensor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front depth cam 400×225 @ 20 Hz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Wire format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16UC1 uint16, values in meters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Robustness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5th-percentile windows, own-props masked (&lt;1.5 m)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Brake threshold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&lt; 15 m → scale speed ∝ distance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Evade threshold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49DB2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&lt; 8 m → strafe to freer side + climb 1.2 m/s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Goal-pull damping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×0.25 while avoiding (don't fight the steer)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Stall recovery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 s → ESCAPE (reverse+climb 4 s); 14 s → safe skip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D:/OneDrive/College/S2-TaipeiTech/Lab/VLA Drone/demo/out/avoid_final/traj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554480"/>
            <a:ext cx="3566160" cy="1828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166360" y="35204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3703320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51576" y="36850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 in flight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5367528" y="4142232"/>
            <a:ext cx="3163824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3-leg city route: slow → climb+steer → clear slalom through a building canyon, final waypoint REACHED, NFZ 0.0 s.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8503920" y="473659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503920" y="47365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49D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 TOOLING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Mission Control GUI + one-click runner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22960" cy="0"/>
          </a:xfrm>
          <a:prstGeom prst="line">
            <a:avLst/>
          </a:prstGeom>
          <a:noFill/>
          <a:ln w="31750">
            <a:solidFill>
              <a:srgbClr val="249D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" y="17647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Point-and-click missions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4088" y="2221992"/>
            <a:ext cx="371246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Left-click the map = waypoints. Right-drag = draw NFZ rectangles — they compile into REAL guardrail policy (YAML) before takeoff.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92040" y="160020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8308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7256" y="17647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tracking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093208" y="2221992"/>
            <a:ext cx="339242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Drone position streams onto the map at 5 Hz (atomic live.json); dot turns orange whenever the shield touches an action.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2920" y="32461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2900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88136" y="341071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One-click demo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704088" y="3867912"/>
            <a:ext cx="371246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run_japanesecity.bat: kills old sims, boots UE5 city (~2 min), loads the 7B model, flies, pops trajectory.png. Zero typing.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892040" y="324612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429000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77256" y="3410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safety path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093208" y="3867912"/>
            <a:ext cx="339242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 or script, the chain is identical: VLA → avoidance → limiter → Shield. Drawn NFZs are enforced exactly like pre-briefed ones.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503920" y="473659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503920" y="47365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49D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Latency &amp; resource budget (RTX 4080 → Jetson)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22960" cy="0"/>
          </a:xfrm>
          <a:prstGeom prst="line">
            <a:avLst/>
          </a:prstGeom>
          <a:noFill/>
          <a:ln w="31750">
            <a:solidFill>
              <a:srgbClr val="249DB2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81838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71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Stage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D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RTX 4080 SUPER (measured)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D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Jetson Orin 16 GB (projected)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DB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VLA inference / action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0.9–1.3 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2–4 s (TensorRT-LLM: ÷2–3)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Control loop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10 Hz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10 Hz (CPU, unchanged)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Shield check / action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&lt; 1 ms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&lt; 1 ms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Depth avoidance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&lt; 5 ms / frame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&lt; 10 ms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Model VRAM (4-bit)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5.6 GB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fits 16 GB unified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Model load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18–25 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~60 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9776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Deployment path: merge LoRA → TensorRT-LLM on Jetson → guardrail unchanged (pure CPU). The architecture already tolerates slow inference: action-holding, mission assist and the Shield absorb the latency.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503920" y="473659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0" y="47365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49D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 scoreboard &amp; honest limits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22960" cy="0"/>
          </a:xfrm>
          <a:prstGeom prst="line">
            <a:avLst/>
          </a:prstGeom>
          <a:noFill/>
          <a:ln w="31750">
            <a:solidFill>
              <a:srgbClr val="249D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" y="17190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Holding everywhere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4088" y="2176272"/>
            <a:ext cx="3621024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P0 violation escape rate = 0 across 40+ evaluation flights, 5 simulators, every configuration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100% target reach, path efficiency 0.996 (deployed config)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Full route patrol + drawn-NFZ missions verified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Every flight leaves a hash-stamped audit trail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554480"/>
            <a:ext cx="39776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D9DEE3">
                <a:alpha val="4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3736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94376" y="17190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Known limits (reported as-is)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910328" y="2176272"/>
            <a:ext cx="3575304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Pure-VLA navigation ~20% reach — 0.8 Hz decisions; needs faster inference or waypoint-level action chunking (future work)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Buildings taller than the 25 m ceiling are unreachable BY DESIGN — the system tries slow/steer/climb/escape, then skips safely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Jetson numbers are projections; hardware validation pending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503920" y="473659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03920" y="47365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74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249DB2"/>
          </a:solidFill>
          <a:ln w="12700">
            <a:solidFill>
              <a:srgbClr val="249D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F6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TAKEAWAY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pilot got smart.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rules never moved.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6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7B vision-language pilot we fine-tuned ourselves now flies real urban maps at 0.996 path efficiency — and the guardrail still checks every single action, still writes every audit line, and still reports zero violations.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Fine-Tuned VLA + Safety Guardrail — Technical Progress</dc:title>
  <dc:subject>PptxGenJS Presentation</dc:subject>
  <dc:creator>PptxGenJS</dc:creator>
  <cp:lastModifiedBy>PptxGenJS</cp:lastModifiedBy>
  <cp:revision>1</cp:revision>
  <dcterms:created xsi:type="dcterms:W3CDTF">2026-07-21T03:46:10Z</dcterms:created>
  <dcterms:modified xsi:type="dcterms:W3CDTF">2026-07-21T03:46:10Z</dcterms:modified>
</cp:coreProperties>
</file>